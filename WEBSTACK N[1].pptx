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7" r:id="rId9"/>
    <p:sldId id="263"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12/13/2025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12/13/2025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12/13/2025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12/13/2025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12/13/2025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12/13/2025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12/13/2025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12/13/2025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12/13/2025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12/13/2025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12/13/2025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85347" y="560717"/>
            <a:ext cx="7540471" cy="4468484"/>
          </a:xfrm>
        </p:spPr>
        <p:txBody>
          <a:bodyPr/>
          <a:lstStyle/>
          <a:p>
            <a:pPr lvl="0">
              <a:spcBef>
                <a:spcPts val="0"/>
              </a:spcBef>
            </a:pPr>
            <a:r>
              <a:rPr lang="en-US" sz="2000" dirty="0"/>
              <a:t>MATURI</a:t>
            </a:r>
            <a:r>
              <a:rPr lang="en-US" sz="2000" dirty="0">
                <a:solidFill>
                  <a:prstClr val="black"/>
                </a:solidFill>
                <a:latin typeface="Times New Roman" panose="02020603050405020304" pitchFamily="18" charset="0"/>
                <a:cs typeface="Times New Roman" panose="02020603050405020304" pitchFamily="18" charset="0"/>
              </a:rPr>
              <a:t> </a:t>
            </a:r>
            <a:r>
              <a:rPr lang="en-US" sz="2000" dirty="0"/>
              <a:t>VENKATA SUBBA RAO ENGINEERING COLLEGE</a:t>
            </a:r>
            <a:br>
              <a:rPr lang="en-US" sz="2000" dirty="0"/>
            </a:br>
            <a:r>
              <a:rPr lang="en-US" sz="2000" dirty="0"/>
              <a:t>                     (An Autonomous Institution)</a:t>
            </a:r>
            <a:br>
              <a:rPr lang="en-US" sz="2000" dirty="0"/>
            </a:br>
            <a:r>
              <a:rPr lang="en-US" sz="2000" dirty="0"/>
              <a:t> (Sponsored By </a:t>
            </a:r>
            <a:r>
              <a:rPr lang="en-US" sz="2000" dirty="0" err="1"/>
              <a:t>Matrusri</a:t>
            </a:r>
            <a:r>
              <a:rPr lang="en-US" sz="2000" dirty="0"/>
              <a:t> Education Society,Estd.1980)</a:t>
            </a:r>
            <a:br>
              <a:rPr lang="en-US" sz="2000" dirty="0"/>
            </a:br>
            <a:br>
              <a:rPr lang="en-US" sz="2400" dirty="0"/>
            </a:br>
            <a:r>
              <a:rPr lang="en-US" sz="2000" dirty="0"/>
              <a:t>                           Department of</a:t>
            </a:r>
            <a:br>
              <a:rPr lang="en-US" sz="2000" dirty="0"/>
            </a:br>
            <a:r>
              <a:rPr lang="en-US" sz="2000" dirty="0"/>
              <a:t>              Computer Science &amp; Engineering</a:t>
            </a:r>
            <a:br>
              <a:rPr lang="en-US" sz="2000" dirty="0"/>
            </a:br>
            <a:br>
              <a:rPr lang="en-US" sz="2000" dirty="0"/>
            </a:br>
            <a:r>
              <a:rPr lang="en-US" sz="2000" dirty="0"/>
              <a:t>                      Internship Presentation </a:t>
            </a:r>
            <a:br>
              <a:rPr lang="en-US" sz="2000" dirty="0"/>
            </a:br>
            <a:r>
              <a:rPr lang="en-US" sz="2000" dirty="0"/>
              <a:t>                                  On</a:t>
            </a:r>
            <a:br>
              <a:rPr lang="en-US" sz="2000" dirty="0"/>
            </a:br>
            <a:r>
              <a:rPr lang="en-US" sz="2000" dirty="0"/>
              <a:t>                            MERN Stack</a:t>
            </a:r>
            <a:br>
              <a:rPr lang="en-US" sz="2000" dirty="0"/>
            </a:br>
            <a:r>
              <a:rPr lang="en-US" sz="2000" dirty="0">
                <a:solidFill>
                  <a:prstClr val="black"/>
                </a:solidFill>
                <a:latin typeface="Times New Roman" panose="02020603050405020304" pitchFamily="18" charset="0"/>
                <a:cs typeface="Times New Roman" panose="02020603050405020304" pitchFamily="18" charset="0"/>
              </a:rPr>
              <a:t> </a:t>
            </a:r>
            <a:endParaRPr lang="en-IN" sz="2000" dirty="0"/>
          </a:p>
        </p:txBody>
      </p:sp>
      <p:pic>
        <p:nvPicPr>
          <p:cNvPr id="4" name="Picture 3">
            <a:extLst>
              <a:ext uri="{FF2B5EF4-FFF2-40B4-BE49-F238E27FC236}">
                <a16:creationId xmlns:a16="http://schemas.microsoft.com/office/drawing/2014/main" id="{1BF9AF27-AE2B-76AD-D611-8EE2E85CEA34}"/>
              </a:ext>
            </a:extLst>
          </p:cNvPr>
          <p:cNvPicPr>
            <a:picLocks noChangeAspect="1"/>
          </p:cNvPicPr>
          <p:nvPr/>
        </p:nvPicPr>
        <p:blipFill>
          <a:blip r:embed="rId2"/>
          <a:stretch>
            <a:fillRect/>
          </a:stretch>
        </p:blipFill>
        <p:spPr>
          <a:xfrm>
            <a:off x="1360654" y="1451931"/>
            <a:ext cx="1362075" cy="1343028"/>
          </a:xfrm>
          <a:prstGeom prst="rect">
            <a:avLst/>
          </a:prstGeom>
        </p:spPr>
      </p:pic>
      <p:sp>
        <p:nvSpPr>
          <p:cNvPr id="5" name="Rectangle 4"/>
          <p:cNvSpPr/>
          <p:nvPr/>
        </p:nvSpPr>
        <p:spPr>
          <a:xfrm>
            <a:off x="8453888" y="4787660"/>
            <a:ext cx="2467154" cy="923330"/>
          </a:xfrm>
          <a:prstGeom prst="rect">
            <a:avLst/>
          </a:prstGeom>
        </p:spPr>
        <p:txBody>
          <a:bodyPr wrap="square">
            <a:spAutoFit/>
          </a:bodyPr>
          <a:lstStyle/>
          <a:p>
            <a:pPr lvl="0"/>
            <a:r>
              <a:rPr lang="en-US" dirty="0">
                <a:solidFill>
                  <a:schemeClr val="bg1"/>
                </a:solidFill>
              </a:rPr>
              <a:t>Presented By </a:t>
            </a:r>
          </a:p>
          <a:p>
            <a:pPr lvl="0"/>
            <a:r>
              <a:rPr lang="en-US" dirty="0">
                <a:solidFill>
                  <a:schemeClr val="bg1"/>
                </a:solidFill>
              </a:rPr>
              <a:t>2451-23-733-141</a:t>
            </a:r>
          </a:p>
          <a:p>
            <a:pPr lvl="0"/>
            <a:r>
              <a:rPr lang="en-US" dirty="0" err="1">
                <a:solidFill>
                  <a:schemeClr val="bg1"/>
                </a:solidFill>
              </a:rPr>
              <a:t>Bajjuri</a:t>
            </a:r>
            <a:r>
              <a:rPr lang="en-US" dirty="0">
                <a:solidFill>
                  <a:schemeClr val="bg1"/>
                </a:solidFill>
              </a:rPr>
              <a:t> Naveen</a:t>
            </a:r>
          </a:p>
        </p:txBody>
      </p:sp>
    </p:spTree>
    <p:extLst>
      <p:ext uri="{BB962C8B-B14F-4D97-AF65-F5344CB8AC3E}">
        <p14:creationId xmlns:p14="http://schemas.microsoft.com/office/powerpoint/2010/main" val="3867833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7"/>
            <a:ext cx="8761413" cy="1295079"/>
          </a:xfrm>
        </p:spPr>
        <p:txBody>
          <a:bodyPr/>
          <a:lstStyle/>
          <a:p>
            <a:pPr lvl="0">
              <a:spcBef>
                <a:spcPts val="0"/>
              </a:spcBef>
            </a:pPr>
            <a:r>
              <a:rPr lang="en-US" dirty="0"/>
              <a:t>CONTENTS</a:t>
            </a:r>
            <a:br>
              <a:rPr lang="en-US" dirty="0">
                <a:solidFill>
                  <a:prstClr val="black"/>
                </a:solidFill>
              </a:rPr>
            </a:br>
            <a:endParaRPr lang="en-IN" dirty="0"/>
          </a:p>
        </p:txBody>
      </p:sp>
      <p:sp>
        <p:nvSpPr>
          <p:cNvPr id="3" name="Content Placeholder 2"/>
          <p:cNvSpPr>
            <a:spLocks noGrp="1"/>
          </p:cNvSpPr>
          <p:nvPr>
            <p:ph idx="1"/>
          </p:nvPr>
        </p:nvSpPr>
        <p:spPr/>
        <p:txBody>
          <a:bodyPr/>
          <a:lstStyle/>
          <a:p>
            <a:pPr marL="457165" lvl="0" indent="-457165">
              <a:spcBef>
                <a:spcPts val="0"/>
              </a:spcBef>
              <a:buClrTx/>
              <a:buSzTx/>
              <a:buFont typeface="Wingdings" panose="05000000000000000000" pitchFamily="2" charset="2"/>
              <a:buChar char="q"/>
            </a:pPr>
            <a:r>
              <a:rPr lang="en-US" sz="2800" dirty="0">
                <a:solidFill>
                  <a:prstClr val="black"/>
                </a:solidFill>
              </a:rPr>
              <a:t>Abstract</a:t>
            </a:r>
          </a:p>
          <a:p>
            <a:pPr marL="457165" lvl="0" indent="-457165">
              <a:spcBef>
                <a:spcPts val="0"/>
              </a:spcBef>
              <a:buClrTx/>
              <a:buSzTx/>
              <a:buFont typeface="Wingdings" panose="05000000000000000000" pitchFamily="2" charset="2"/>
              <a:buChar char="q"/>
            </a:pPr>
            <a:r>
              <a:rPr lang="en-US" sz="2800" dirty="0">
                <a:solidFill>
                  <a:prstClr val="black"/>
                </a:solidFill>
              </a:rPr>
              <a:t>Introduction</a:t>
            </a:r>
            <a:endParaRPr lang="en-IN" dirty="0"/>
          </a:p>
          <a:p>
            <a:pPr marL="457165" lvl="0" indent="-457165">
              <a:spcBef>
                <a:spcPts val="0"/>
              </a:spcBef>
              <a:buClrTx/>
              <a:buSzTx/>
              <a:buFont typeface="Wingdings" panose="05000000000000000000" pitchFamily="2" charset="2"/>
              <a:buChar char="q"/>
            </a:pPr>
            <a:r>
              <a:rPr lang="en-US" sz="2800" dirty="0">
                <a:solidFill>
                  <a:prstClr val="black"/>
                </a:solidFill>
              </a:rPr>
              <a:t>Key Objectives</a:t>
            </a:r>
          </a:p>
          <a:p>
            <a:pPr marL="457165" lvl="0" indent="-457165">
              <a:spcBef>
                <a:spcPts val="0"/>
              </a:spcBef>
              <a:buClrTx/>
              <a:buSzTx/>
              <a:buFont typeface="Wingdings" panose="05000000000000000000" pitchFamily="2" charset="2"/>
              <a:buChar char="q"/>
            </a:pPr>
            <a:r>
              <a:rPr lang="en-US" sz="2800" dirty="0">
                <a:solidFill>
                  <a:prstClr val="black"/>
                </a:solidFill>
              </a:rPr>
              <a:t>Literature survey</a:t>
            </a:r>
          </a:p>
          <a:p>
            <a:pPr marL="457165" lvl="0" indent="-457165">
              <a:spcBef>
                <a:spcPts val="0"/>
              </a:spcBef>
              <a:buClrTx/>
              <a:buSzTx/>
              <a:buFont typeface="Wingdings" panose="05000000000000000000" pitchFamily="2" charset="2"/>
              <a:buChar char="q"/>
            </a:pPr>
            <a:r>
              <a:rPr lang="en-US" sz="2800" dirty="0">
                <a:solidFill>
                  <a:prstClr val="black"/>
                </a:solidFill>
              </a:rPr>
              <a:t>Description of the work done</a:t>
            </a:r>
          </a:p>
          <a:p>
            <a:pPr marL="457165" lvl="0" indent="-457165">
              <a:spcBef>
                <a:spcPts val="0"/>
              </a:spcBef>
              <a:buClrTx/>
              <a:buSzTx/>
              <a:buFont typeface="Wingdings" panose="05000000000000000000" pitchFamily="2" charset="2"/>
              <a:buChar char="q"/>
            </a:pPr>
            <a:r>
              <a:rPr lang="en-US" sz="2800" dirty="0">
                <a:solidFill>
                  <a:prstClr val="black"/>
                </a:solidFill>
              </a:rPr>
              <a:t>Results</a:t>
            </a:r>
          </a:p>
          <a:p>
            <a:pPr marL="457165" lvl="0" indent="-457165">
              <a:spcBef>
                <a:spcPts val="0"/>
              </a:spcBef>
              <a:buClrTx/>
              <a:buSzTx/>
              <a:buFont typeface="Wingdings" panose="05000000000000000000" pitchFamily="2" charset="2"/>
              <a:buChar char="q"/>
            </a:pPr>
            <a:r>
              <a:rPr lang="en-US" sz="2800" dirty="0">
                <a:solidFill>
                  <a:prstClr val="black"/>
                </a:solidFill>
              </a:rPr>
              <a:t>Conclusion</a:t>
            </a:r>
          </a:p>
        </p:txBody>
      </p:sp>
    </p:spTree>
    <p:extLst>
      <p:ext uri="{BB962C8B-B14F-4D97-AF65-F5344CB8AC3E}">
        <p14:creationId xmlns:p14="http://schemas.microsoft.com/office/powerpoint/2010/main" val="536306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1466490"/>
            <a:ext cx="8761413" cy="214141"/>
          </a:xfrm>
        </p:spPr>
        <p:txBody>
          <a:bodyPr/>
          <a:lstStyle/>
          <a:p>
            <a:pPr lvl="0">
              <a:spcBef>
                <a:spcPts val="0"/>
              </a:spcBef>
            </a:pPr>
            <a:r>
              <a:rPr lang="en-US" dirty="0"/>
              <a:t>ABSTRACT</a:t>
            </a:r>
            <a:br>
              <a:rPr lang="en-US" sz="2800" dirty="0">
                <a:solidFill>
                  <a:prstClr val="black"/>
                </a:solidFill>
                <a:latin typeface="Times New Roman" panose="02020603050405020304" pitchFamily="18" charset="0"/>
                <a:cs typeface="Times New Roman" panose="02020603050405020304" pitchFamily="18" charset="0"/>
              </a:rPr>
            </a:br>
            <a:endParaRPr lang="en-IN" dirty="0"/>
          </a:p>
        </p:txBody>
      </p:sp>
      <p:sp>
        <p:nvSpPr>
          <p:cNvPr id="4" name="Rectangle 1"/>
          <p:cNvSpPr>
            <a:spLocks noGrp="1" noChangeArrowheads="1"/>
          </p:cNvSpPr>
          <p:nvPr>
            <p:ph idx="1"/>
          </p:nvPr>
        </p:nvSpPr>
        <p:spPr bwMode="auto">
          <a:xfrm>
            <a:off x="1154954" y="2381911"/>
            <a:ext cx="956768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latin typeface="Arial" panose="020B0604020202020204" pitchFamily="34" charset="0"/>
              </a:rPr>
              <a:t>MERN Stack is a popular web development technology used to build modern web applications.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latin typeface="Arial" panose="020B0604020202020204" pitchFamily="34" charset="0"/>
              </a:rPr>
              <a:t>It consists of four main technologies: </a:t>
            </a:r>
            <a:r>
              <a:rPr kumimoji="0" lang="en-US" sz="1800" b="0" i="0" u="none" strike="noStrike" cap="none" normalizeH="0" baseline="0" dirty="0" err="1">
                <a:ln>
                  <a:noFill/>
                </a:ln>
                <a:solidFill>
                  <a:schemeClr val="tx1"/>
                </a:solidFill>
                <a:effectLst/>
                <a:latin typeface="Arial" panose="020B0604020202020204" pitchFamily="34" charset="0"/>
              </a:rPr>
              <a:t>MongoDB</a:t>
            </a:r>
            <a:r>
              <a:rPr kumimoji="0" lang="en-US" sz="1800" b="0" i="0" u="none" strike="noStrike" cap="none" normalizeH="0" baseline="0" dirty="0">
                <a:ln>
                  <a:noFill/>
                </a:ln>
                <a:solidFill>
                  <a:schemeClr val="tx1"/>
                </a:solidFill>
                <a:effectLst/>
                <a:latin typeface="Arial" panose="020B0604020202020204" pitchFamily="34" charset="0"/>
              </a:rPr>
              <a:t>, Express.js, React, and Node.js.</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err="1">
                <a:ln>
                  <a:noFill/>
                </a:ln>
                <a:solidFill>
                  <a:schemeClr val="tx1"/>
                </a:solidFill>
                <a:effectLst/>
                <a:latin typeface="Arial" panose="020B0604020202020204" pitchFamily="34" charset="0"/>
              </a:rPr>
              <a:t>MongoDB</a:t>
            </a:r>
            <a:r>
              <a:rPr kumimoji="0" lang="en-US" sz="1800" b="0" i="0" u="none" strike="noStrike" cap="none" normalizeH="0" baseline="0" dirty="0">
                <a:ln>
                  <a:noFill/>
                </a:ln>
                <a:solidFill>
                  <a:schemeClr val="tx1"/>
                </a:solidFill>
                <a:effectLst/>
                <a:latin typeface="Arial" panose="020B0604020202020204" pitchFamily="34" charset="0"/>
              </a:rPr>
              <a:t> is used to store data in a flexible and scalable way.</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latin typeface="Arial" panose="020B0604020202020204" pitchFamily="34" charset="0"/>
              </a:rPr>
              <a:t>Express.js and Node.js help in building the server-side logic of the application.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latin typeface="Arial" panose="020B0604020202020204" pitchFamily="34" charset="0"/>
              </a:rPr>
              <a:t>React is used to create fast and interactive user interfaces.</a:t>
            </a:r>
            <a:endParaRPr lang="en-US" dirty="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sz="1800" b="0"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buClrTx/>
              <a:buSzTx/>
              <a:buFont typeface="Wingdings" panose="05000000000000000000" pitchFamily="2" charset="2"/>
              <a:buChar char="q"/>
            </a:pPr>
            <a:r>
              <a:rPr lang="en-US" dirty="0">
                <a:solidFill>
                  <a:prstClr val="black"/>
                </a:solidFill>
                <a:latin typeface="Arial" panose="020B0604020202020204" pitchFamily="34" charset="0"/>
              </a:rPr>
              <a:t>MERN Stack allows developers to use JavaScript for both front-end and back-end development.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42461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1634912"/>
            <a:ext cx="8761413" cy="45719"/>
          </a:xfrm>
        </p:spPr>
        <p:txBody>
          <a:bodyPr/>
          <a:lstStyle/>
          <a:p>
            <a:r>
              <a:rPr lang="en-IN" dirty="0"/>
              <a:t>INTRODUCTION</a:t>
            </a:r>
            <a:br>
              <a:rPr lang="en-IN" dirty="0"/>
            </a:br>
            <a:endParaRPr lang="en-IN" dirty="0"/>
          </a:p>
        </p:txBody>
      </p:sp>
      <p:sp>
        <p:nvSpPr>
          <p:cNvPr id="3" name="Content Placeholder 2"/>
          <p:cNvSpPr>
            <a:spLocks noGrp="1"/>
          </p:cNvSpPr>
          <p:nvPr>
            <p:ph idx="1"/>
          </p:nvPr>
        </p:nvSpPr>
        <p:spPr>
          <a:xfrm>
            <a:off x="1154954" y="2603500"/>
            <a:ext cx="9490042" cy="3831806"/>
          </a:xfrm>
        </p:spPr>
        <p:txBody>
          <a:bodyPr>
            <a:normAutofit/>
          </a:bodyPr>
          <a:lstStyle/>
          <a:p>
            <a:r>
              <a:rPr lang="en-US" dirty="0"/>
              <a:t>MERN Stack is a collection of technologies used to develop full-stack web applications. It is based completely on JavaScript, making development simpler and faster. MERN stands for </a:t>
            </a:r>
            <a:r>
              <a:rPr lang="en-US" dirty="0" err="1"/>
              <a:t>MongoDB</a:t>
            </a:r>
            <a:r>
              <a:rPr lang="en-US" dirty="0"/>
              <a:t>, Express.js, React, and Node.js. </a:t>
            </a:r>
            <a:r>
              <a:rPr lang="en-US" dirty="0" err="1"/>
              <a:t>MongoDB</a:t>
            </a:r>
            <a:r>
              <a:rPr lang="en-US" dirty="0"/>
              <a:t> is used for database management.Express.js and Node.js are used to build the backend server. React is used to design dynamic and responsive user interfaces.</a:t>
            </a:r>
          </a:p>
          <a:p>
            <a:r>
              <a:rPr lang="en-US" dirty="0"/>
              <a:t>MERN Stack supports the development of single-page applications (SPAs).It allows smooth communication between front-end and back-end using APIs. MERN applications are scalable and suitable for large projects. It is widely used in industry for modern web development. MERN Stack has a large community and good support resources. It helps in faster development and easy maintenance of applications.</a:t>
            </a:r>
            <a:endParaRPr lang="en-IN" dirty="0"/>
          </a:p>
        </p:txBody>
      </p:sp>
    </p:spTree>
    <p:extLst>
      <p:ext uri="{BB962C8B-B14F-4D97-AF65-F5344CB8AC3E}">
        <p14:creationId xmlns:p14="http://schemas.microsoft.com/office/powerpoint/2010/main" val="2758135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7"/>
            <a:ext cx="8761413" cy="1338211"/>
          </a:xfrm>
        </p:spPr>
        <p:txBody>
          <a:bodyPr/>
          <a:lstStyle/>
          <a:p>
            <a:r>
              <a:rPr lang="en-IN" dirty="0"/>
              <a:t>Key Objectives</a:t>
            </a:r>
            <a:br>
              <a:rPr lang="en-IN" dirty="0"/>
            </a:br>
            <a:endParaRPr lang="en-IN" dirty="0"/>
          </a:p>
        </p:txBody>
      </p:sp>
      <p:sp>
        <p:nvSpPr>
          <p:cNvPr id="4" name="Rectangle 1"/>
          <p:cNvSpPr>
            <a:spLocks noGrp="1" noChangeArrowheads="1"/>
          </p:cNvSpPr>
          <p:nvPr>
            <p:ph idx="1"/>
          </p:nvPr>
        </p:nvSpPr>
        <p:spPr bwMode="auto">
          <a:xfrm>
            <a:off x="1154954" y="2741992"/>
            <a:ext cx="1022267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rPr>
              <a:t>To build full-stack web applications using a single programming language (JavaScript).</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rPr>
              <a:t>To create fast and interactive user interfaces.</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rPr>
              <a:t>To manage data efficiently using a flexible database system.</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rPr>
              <a:t>To ensure smooth communication between client and server.</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rPr>
              <a:t>To develop scalable and high-performance web applications.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rPr>
              <a:t>To simplify development and reduce overall development time</a:t>
            </a:r>
            <a:r>
              <a:rPr kumimoji="0" 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933151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AA361AB-097C-A934-073C-96BAD5E58065}"/>
              </a:ext>
            </a:extLst>
          </p:cNvPr>
          <p:cNvSpPr>
            <a:spLocks noGrp="1"/>
          </p:cNvSpPr>
          <p:nvPr>
            <p:ph type="title"/>
          </p:nvPr>
        </p:nvSpPr>
        <p:spPr bwMode="gray">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LITERATURE SURVEY</a:t>
            </a:r>
          </a:p>
        </p:txBody>
      </p:sp>
      <p:sp>
        <p:nvSpPr>
          <p:cNvPr id="5" name="Rectangle 1"/>
          <p:cNvSpPr>
            <a:spLocks noGrp="1" noChangeArrowheads="1"/>
          </p:cNvSpPr>
          <p:nvPr>
            <p:ph idx="1"/>
          </p:nvPr>
        </p:nvSpPr>
        <p:spPr bwMode="auto">
          <a:xfrm>
            <a:off x="1154954" y="2382317"/>
            <a:ext cx="985235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rPr>
              <a:t>Many studies and developer reports describe </a:t>
            </a:r>
            <a:r>
              <a:rPr kumimoji="0" lang="en-US" sz="1800" b="1" i="0" u="none" strike="noStrike" cap="none" normalizeH="0" baseline="0" dirty="0">
                <a:ln>
                  <a:noFill/>
                </a:ln>
                <a:solidFill>
                  <a:schemeClr val="tx1"/>
                </a:solidFill>
                <a:effectLst/>
              </a:rPr>
              <a:t>MERN</a:t>
            </a:r>
            <a:r>
              <a:rPr kumimoji="0" lang="en-US" sz="1800" b="0" i="0" u="none" strike="noStrike" cap="none" normalizeH="0" baseline="0" dirty="0">
                <a:ln>
                  <a:noFill/>
                </a:ln>
                <a:solidFill>
                  <a:schemeClr val="tx1"/>
                </a:solidFill>
                <a:effectLst/>
              </a:rPr>
              <a:t> as a popular </a:t>
            </a:r>
            <a:r>
              <a:rPr kumimoji="0" lang="en-US" sz="1800" b="1" i="0" u="none" strike="noStrike" cap="none" normalizeH="0" baseline="0" dirty="0">
                <a:ln>
                  <a:noFill/>
                </a:ln>
                <a:solidFill>
                  <a:schemeClr val="tx1"/>
                </a:solidFill>
                <a:effectLst/>
              </a:rPr>
              <a:t>JavaScript full-stack</a:t>
            </a:r>
            <a:r>
              <a:rPr kumimoji="0" lang="en-US" sz="1800" b="0" i="0" u="none" strike="noStrike" cap="none" normalizeH="0" baseline="0" dirty="0">
                <a:ln>
                  <a:noFill/>
                </a:ln>
                <a:solidFill>
                  <a:schemeClr val="tx1"/>
                </a:solidFill>
                <a:effectLst/>
              </a:rPr>
              <a:t> because the same language is used for both front end and back end.</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rPr>
              <a:t>Research on modern web apps often highlights </a:t>
            </a:r>
            <a:r>
              <a:rPr kumimoji="0" lang="en-US" sz="1800" b="1" i="0" u="none" strike="noStrike" cap="none" normalizeH="0" baseline="0" dirty="0">
                <a:ln>
                  <a:noFill/>
                </a:ln>
                <a:solidFill>
                  <a:schemeClr val="tx1"/>
                </a:solidFill>
                <a:effectLst/>
              </a:rPr>
              <a:t>React</a:t>
            </a:r>
            <a:r>
              <a:rPr kumimoji="0" lang="en-US" sz="1800" b="0" i="0" u="none" strike="noStrike" cap="none" normalizeH="0" baseline="0" dirty="0">
                <a:ln>
                  <a:noFill/>
                </a:ln>
                <a:solidFill>
                  <a:schemeClr val="tx1"/>
                </a:solidFill>
                <a:effectLst/>
              </a:rPr>
              <a:t> for building </a:t>
            </a:r>
            <a:r>
              <a:rPr kumimoji="0" lang="en-US" sz="1800" b="1" i="0" u="none" strike="noStrike" cap="none" normalizeH="0" baseline="0" dirty="0">
                <a:ln>
                  <a:noFill/>
                </a:ln>
                <a:solidFill>
                  <a:schemeClr val="tx1"/>
                </a:solidFill>
                <a:effectLst/>
              </a:rPr>
              <a:t>single-page applications (SPA)</a:t>
            </a:r>
            <a:r>
              <a:rPr kumimoji="0" lang="en-US" sz="1800" b="0" i="0" u="none" strike="noStrike" cap="none" normalizeH="0" baseline="0" dirty="0">
                <a:ln>
                  <a:noFill/>
                </a:ln>
                <a:solidFill>
                  <a:schemeClr val="tx1"/>
                </a:solidFill>
                <a:effectLst/>
              </a:rPr>
              <a:t> with reusable components and fast UI updates.</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rPr>
              <a:t>Backend literature commonly explains </a:t>
            </a:r>
            <a:r>
              <a:rPr kumimoji="0" lang="en-US" sz="1800" b="1" i="0" u="none" strike="noStrike" cap="none" normalizeH="0" baseline="0" dirty="0">
                <a:ln>
                  <a:noFill/>
                </a:ln>
                <a:solidFill>
                  <a:schemeClr val="tx1"/>
                </a:solidFill>
                <a:effectLst/>
              </a:rPr>
              <a:t>Node.js + Express.js</a:t>
            </a:r>
            <a:r>
              <a:rPr kumimoji="0" lang="en-US" sz="1800" b="0" i="0" u="none" strike="noStrike" cap="none" normalizeH="0" baseline="0" dirty="0">
                <a:ln>
                  <a:noFill/>
                </a:ln>
                <a:solidFill>
                  <a:schemeClr val="tx1"/>
                </a:solidFill>
                <a:effectLst/>
              </a:rPr>
              <a:t> as a lightweight way to build </a:t>
            </a:r>
            <a:r>
              <a:rPr kumimoji="0" lang="en-US" sz="1800" b="1" i="0" u="none" strike="noStrike" cap="none" normalizeH="0" baseline="0" dirty="0">
                <a:ln>
                  <a:noFill/>
                </a:ln>
                <a:solidFill>
                  <a:schemeClr val="tx1"/>
                </a:solidFill>
                <a:effectLst/>
              </a:rPr>
              <a:t>REST APIs</a:t>
            </a:r>
            <a:r>
              <a:rPr kumimoji="0" lang="en-US" sz="1800" b="0" i="0" u="none" strike="noStrike" cap="none" normalizeH="0" baseline="0" dirty="0">
                <a:ln>
                  <a:noFill/>
                </a:ln>
                <a:solidFill>
                  <a:schemeClr val="tx1"/>
                </a:solidFill>
                <a:effectLst/>
              </a:rPr>
              <a:t> that connect the UI with the database.</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rPr>
              <a:t>Database-focused articles discuss </a:t>
            </a:r>
            <a:r>
              <a:rPr kumimoji="0" lang="en-US" sz="1800" b="1" i="0" u="none" strike="noStrike" cap="none" normalizeH="0" baseline="0" dirty="0" err="1">
                <a:ln>
                  <a:noFill/>
                </a:ln>
                <a:solidFill>
                  <a:schemeClr val="tx1"/>
                </a:solidFill>
                <a:effectLst/>
              </a:rPr>
              <a:t>MongoDB</a:t>
            </a:r>
            <a:r>
              <a:rPr kumimoji="0" lang="en-US" sz="1800" b="0" i="0" u="none" strike="noStrike" cap="none" normalizeH="0" baseline="0" dirty="0">
                <a:ln>
                  <a:noFill/>
                </a:ln>
                <a:solidFill>
                  <a:schemeClr val="tx1"/>
                </a:solidFill>
                <a:effectLst/>
              </a:rPr>
              <a:t> as a </a:t>
            </a:r>
            <a:r>
              <a:rPr kumimoji="0" lang="en-US" sz="1800" b="1" i="0" u="none" strike="noStrike" cap="none" normalizeH="0" baseline="0" dirty="0" err="1">
                <a:ln>
                  <a:noFill/>
                </a:ln>
                <a:solidFill>
                  <a:schemeClr val="tx1"/>
                </a:solidFill>
                <a:effectLst/>
              </a:rPr>
              <a:t>NoSQL</a:t>
            </a:r>
            <a:r>
              <a:rPr kumimoji="0" lang="en-US" sz="1800" b="0" i="0" u="none" strike="noStrike" cap="none" normalizeH="0" baseline="0" dirty="0">
                <a:ln>
                  <a:noFill/>
                </a:ln>
                <a:solidFill>
                  <a:schemeClr val="tx1"/>
                </a:solidFill>
                <a:effectLst/>
              </a:rPr>
              <a:t> database that stores data in </a:t>
            </a:r>
            <a:r>
              <a:rPr kumimoji="0" lang="en-US" sz="1800" b="1" i="0" u="none" strike="noStrike" cap="none" normalizeH="0" baseline="0" dirty="0">
                <a:ln>
                  <a:noFill/>
                </a:ln>
                <a:solidFill>
                  <a:schemeClr val="tx1"/>
                </a:solidFill>
                <a:effectLst/>
              </a:rPr>
              <a:t>JSON-like documents</a:t>
            </a:r>
            <a:r>
              <a:rPr kumimoji="0" lang="en-US" sz="1800" b="0" i="0" u="none" strike="noStrike" cap="none" normalizeH="0" baseline="0" dirty="0">
                <a:ln>
                  <a:noFill/>
                </a:ln>
                <a:solidFill>
                  <a:schemeClr val="tx1"/>
                </a:solidFill>
                <a:effectLst/>
              </a:rPr>
              <a:t>, making it flexible for changing project needs.</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0" i="0" u="none" strike="noStrike" cap="none" normalizeH="0" baseline="0" dirty="0">
                <a:ln>
                  <a:noFill/>
                </a:ln>
                <a:solidFill>
                  <a:schemeClr val="tx1"/>
                </a:solidFill>
                <a:effectLst/>
              </a:rPr>
              <a:t>Many comparisons (MERN </a:t>
            </a:r>
            <a:r>
              <a:rPr kumimoji="0" lang="en-US" sz="1800" b="0" i="0" u="none" strike="noStrike" cap="none" normalizeH="0" baseline="0" dirty="0" err="1">
                <a:ln>
                  <a:noFill/>
                </a:ln>
                <a:solidFill>
                  <a:schemeClr val="tx1"/>
                </a:solidFill>
                <a:effectLst/>
              </a:rPr>
              <a:t>vs</a:t>
            </a:r>
            <a:r>
              <a:rPr kumimoji="0" lang="en-US" sz="1800" b="0" i="0" u="none" strike="noStrike" cap="none" normalizeH="0" baseline="0" dirty="0">
                <a:ln>
                  <a:noFill/>
                </a:ln>
                <a:solidFill>
                  <a:schemeClr val="tx1"/>
                </a:solidFill>
                <a:effectLst/>
              </a:rPr>
              <a:t> MEAN </a:t>
            </a:r>
            <a:r>
              <a:rPr kumimoji="0" lang="en-US" sz="1800" b="0" i="0" u="none" strike="noStrike" cap="none" normalizeH="0" baseline="0" dirty="0" err="1">
                <a:ln>
                  <a:noFill/>
                </a:ln>
                <a:solidFill>
                  <a:schemeClr val="tx1"/>
                </a:solidFill>
                <a:effectLst/>
              </a:rPr>
              <a:t>vs</a:t>
            </a:r>
            <a:r>
              <a:rPr kumimoji="0" lang="en-US" sz="1800" b="0" i="0" u="none" strike="noStrike" cap="none" normalizeH="0" baseline="0" dirty="0">
                <a:ln>
                  <a:noFill/>
                </a:ln>
                <a:solidFill>
                  <a:schemeClr val="tx1"/>
                </a:solidFill>
                <a:effectLst/>
              </a:rPr>
              <a:t> LAMP) show MERN is preferred when the goal is </a:t>
            </a:r>
            <a:r>
              <a:rPr kumimoji="0" lang="en-US" sz="1800" b="1" i="0" u="none" strike="noStrike" cap="none" normalizeH="0" baseline="0" dirty="0">
                <a:ln>
                  <a:noFill/>
                </a:ln>
                <a:solidFill>
                  <a:schemeClr val="tx1"/>
                </a:solidFill>
                <a:effectLst/>
              </a:rPr>
              <a:t>highly interactive interfaces</a:t>
            </a:r>
            <a:r>
              <a:rPr kumimoji="0" lang="en-US" sz="1800" b="0" i="0" u="none" strike="noStrike" cap="none" normalizeH="0" baseline="0" dirty="0">
                <a:ln>
                  <a:noFill/>
                </a:ln>
                <a:solidFill>
                  <a:schemeClr val="tx1"/>
                </a:solidFill>
                <a:effectLst/>
              </a:rPr>
              <a:t> and rapid development.</a:t>
            </a:r>
          </a:p>
        </p:txBody>
      </p:sp>
    </p:spTree>
    <p:extLst>
      <p:ext uri="{BB962C8B-B14F-4D97-AF65-F5344CB8AC3E}">
        <p14:creationId xmlns:p14="http://schemas.microsoft.com/office/powerpoint/2010/main" val="4103238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EBEBEB"/>
                </a:solidFill>
              </a:rPr>
              <a:t>DESCRIPTION OF THE WORK DONE</a:t>
            </a:r>
            <a:endParaRPr lang="en-IN" dirty="0"/>
          </a:p>
        </p:txBody>
      </p:sp>
      <p:sp>
        <p:nvSpPr>
          <p:cNvPr id="3" name="Content Placeholder 2"/>
          <p:cNvSpPr>
            <a:spLocks noGrp="1"/>
          </p:cNvSpPr>
          <p:nvPr>
            <p:ph idx="1"/>
          </p:nvPr>
        </p:nvSpPr>
        <p:spPr>
          <a:xfrm>
            <a:off x="1154954" y="2603500"/>
            <a:ext cx="9593559" cy="3416300"/>
          </a:xfrm>
        </p:spPr>
        <p:txBody>
          <a:bodyPr/>
          <a:lstStyle/>
          <a:p>
            <a:r>
              <a:rPr lang="en-US" dirty="0"/>
              <a:t>The frontend of a web application is developed using HTML, CSS, JavaScript, and React to create an attractive and interactive user interface. HTML is used to structure the web pages and define content elements, while CSS is used to style the pages, control layouts, colors, fonts, and ensure responsiveness across devices. JavaScript adds interactivity and dynamic behavior such as form validation, animations, and real-time updates. React is used to build reusable UI components and manage the application’s state efficiently, enabling faster rendering and a smooth user experience. Together, these technologies help in developing responsive, user-friendly, and high-performance frontend applications.</a:t>
            </a:r>
          </a:p>
          <a:p>
            <a:endParaRPr lang="en-IN" dirty="0"/>
          </a:p>
        </p:txBody>
      </p:sp>
    </p:spTree>
    <p:extLst>
      <p:ext uri="{BB962C8B-B14F-4D97-AF65-F5344CB8AC3E}">
        <p14:creationId xmlns:p14="http://schemas.microsoft.com/office/powerpoint/2010/main" val="231263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DESCRIPTION OF THE WORK DONE</a:t>
            </a:r>
            <a:endParaRPr lang="en-IN" dirty="0"/>
          </a:p>
        </p:txBody>
      </p:sp>
      <p:sp>
        <p:nvSpPr>
          <p:cNvPr id="3" name="Content Placeholder 2"/>
          <p:cNvSpPr>
            <a:spLocks noGrp="1"/>
          </p:cNvSpPr>
          <p:nvPr>
            <p:ph idx="1"/>
          </p:nvPr>
        </p:nvSpPr>
        <p:spPr/>
        <p:txBody>
          <a:bodyPr>
            <a:normAutofit/>
          </a:bodyPr>
          <a:lstStyle/>
          <a:p>
            <a:r>
              <a:rPr lang="en-US" dirty="0"/>
              <a:t>The backend of the application uses </a:t>
            </a:r>
            <a:r>
              <a:rPr lang="en-US" dirty="0" err="1"/>
              <a:t>MongoDB</a:t>
            </a:r>
            <a:r>
              <a:rPr lang="en-US" dirty="0"/>
              <a:t> as the primary database for storing and managing data. </a:t>
            </a:r>
            <a:r>
              <a:rPr lang="en-US" dirty="0" err="1"/>
              <a:t>MongoDB</a:t>
            </a:r>
            <a:r>
              <a:rPr lang="en-US" dirty="0"/>
              <a:t> is a </a:t>
            </a:r>
            <a:r>
              <a:rPr lang="en-US" dirty="0" err="1"/>
              <a:t>NoSQL</a:t>
            </a:r>
            <a:r>
              <a:rPr lang="en-US" dirty="0"/>
              <a:t>, document-oriented database that stores data in a JSON-like format, which makes it flexible and easy to modify as application requirements change. It supports fast read and write operations, making it suitable for handling large volumes of data and multiple users at the same time. </a:t>
            </a:r>
            <a:r>
              <a:rPr lang="en-US" dirty="0" err="1"/>
              <a:t>MongoDB</a:t>
            </a:r>
            <a:r>
              <a:rPr lang="en-US" dirty="0"/>
              <a:t> works smoothly with backend technologies like Node.js and Express.js, enabling efficient data exchange through APIs. It also supports features such as indexing, data validation, and replication, which improve performance, data consistency, and reliability. Overall, </a:t>
            </a:r>
            <a:r>
              <a:rPr lang="en-US" dirty="0" err="1"/>
              <a:t>MongoDB</a:t>
            </a:r>
            <a:r>
              <a:rPr lang="en-US" dirty="0"/>
              <a:t> helps in building scalable, secure, and high-performance backend systems.</a:t>
            </a:r>
          </a:p>
          <a:p>
            <a:endParaRPr lang="en-IN" dirty="0"/>
          </a:p>
        </p:txBody>
      </p:sp>
    </p:spTree>
    <p:extLst>
      <p:ext uri="{BB962C8B-B14F-4D97-AF65-F5344CB8AC3E}">
        <p14:creationId xmlns:p14="http://schemas.microsoft.com/office/powerpoint/2010/main" val="2663555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EBEBEB"/>
                </a:solidFill>
              </a:rPr>
              <a:t>RESULT</a:t>
            </a:r>
            <a:endParaRPr lang="en-IN" dirty="0"/>
          </a:p>
        </p:txBody>
      </p:sp>
      <p:sp>
        <p:nvSpPr>
          <p:cNvPr id="3" name="Content Placeholder 2"/>
          <p:cNvSpPr>
            <a:spLocks noGrp="1"/>
          </p:cNvSpPr>
          <p:nvPr>
            <p:ph idx="1"/>
          </p:nvPr>
        </p:nvSpPr>
        <p:spPr/>
        <p:txBody>
          <a:bodyPr/>
          <a:lstStyle/>
          <a:p>
            <a:r>
              <a:rPr lang="en-US" dirty="0"/>
              <a:t>The MERN Stack internship successfully resulted in the development of a fully functional full-stack web application using MongoDB, Express.js, React, and Node.js. The application demonstrated smooth interaction between the frontend and backend through RESTful APIs. User interfaces were responsive, dynamic, and interactive due to the use of React components and state management. The backend efficiently handled user requests, data processing, and database operations using Node.js and Express.js. MongoDB enabled flexible and scalable data storage with fast read and write operations. Overall, the project achieved all the stated objectives and provided practical exposure to real-world full-stack development practices, enhancing both technical and problem-solving skills.</a:t>
            </a:r>
            <a:endParaRPr lang="en-IN" dirty="0"/>
          </a:p>
        </p:txBody>
      </p:sp>
    </p:spTree>
    <p:extLst>
      <p:ext uri="{BB962C8B-B14F-4D97-AF65-F5344CB8AC3E}">
        <p14:creationId xmlns:p14="http://schemas.microsoft.com/office/powerpoint/2010/main" val="4210253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EBEBEB"/>
                </a:solidFill>
              </a:rPr>
              <a:t>CONCLUSION</a:t>
            </a:r>
            <a:endParaRPr lang="en-IN" dirty="0"/>
          </a:p>
        </p:txBody>
      </p:sp>
      <p:sp>
        <p:nvSpPr>
          <p:cNvPr id="3" name="Content Placeholder 2"/>
          <p:cNvSpPr>
            <a:spLocks noGrp="1"/>
          </p:cNvSpPr>
          <p:nvPr>
            <p:ph idx="1"/>
          </p:nvPr>
        </p:nvSpPr>
        <p:spPr>
          <a:xfrm>
            <a:off x="1154954" y="2976113"/>
            <a:ext cx="9550427" cy="3105509"/>
          </a:xfrm>
        </p:spPr>
        <p:txBody>
          <a:bodyPr/>
          <a:lstStyle/>
          <a:p>
            <a:pPr>
              <a:buFont typeface="Wingdings" panose="05000000000000000000" pitchFamily="2" charset="2"/>
              <a:buChar char="q"/>
            </a:pPr>
            <a:r>
              <a:rPr lang="en-US" dirty="0"/>
              <a:t>The MERN Stack internship at </a:t>
            </a:r>
            <a:r>
              <a:rPr lang="en-US" dirty="0" err="1"/>
              <a:t>WebStack</a:t>
            </a:r>
            <a:r>
              <a:rPr lang="en-US" dirty="0"/>
              <a:t> Academy provides practical knowledge and hands-on experience in full-stack web development. Through real-time projects, learners gain a clear understanding of frontend and backend technologies, including React, Node.js, Express.js, and </a:t>
            </a:r>
            <a:r>
              <a:rPr lang="en-US" dirty="0" err="1"/>
              <a:t>MongoDB</a:t>
            </a:r>
            <a:r>
              <a:rPr lang="en-US" dirty="0"/>
              <a:t>. The internship helps in improving coding skills, understanding project workflows, and building a strong portfolio. With proper guidance from mentors and exposure to industry-relevant tools, the internship enhances technical confidence and prepares students for future career opportunities in web development.</a:t>
            </a:r>
          </a:p>
          <a:p>
            <a:pPr marL="0" indent="0">
              <a:buNone/>
            </a:pPr>
            <a:endParaRPr lang="en-US" dirty="0"/>
          </a:p>
        </p:txBody>
      </p:sp>
    </p:spTree>
    <p:extLst>
      <p:ext uri="{BB962C8B-B14F-4D97-AF65-F5344CB8AC3E}">
        <p14:creationId xmlns:p14="http://schemas.microsoft.com/office/powerpoint/2010/main" val="1328759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EBEBEB"/>
                </a:solidFill>
              </a:rPr>
              <a:t>CERTIFICATE</a:t>
            </a:r>
            <a:endParaRPr lang="en-IN"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364939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64302" y="3467818"/>
            <a:ext cx="7142671" cy="2794957"/>
          </a:xfrm>
        </p:spPr>
        <p:txBody>
          <a:bodyPr>
            <a:normAutofit/>
          </a:bodyPr>
          <a:lstStyle/>
          <a:p>
            <a:pPr marL="0" indent="0">
              <a:buNone/>
            </a:pPr>
            <a:r>
              <a:rPr lang="en-US" sz="6000" b="1" dirty="0"/>
              <a:t>THANK YOU</a:t>
            </a:r>
            <a:endParaRPr lang="en-IN" sz="6000" b="1" dirty="0"/>
          </a:p>
        </p:txBody>
      </p:sp>
    </p:spTree>
    <p:extLst>
      <p:ext uri="{BB962C8B-B14F-4D97-AF65-F5344CB8AC3E}">
        <p14:creationId xmlns:p14="http://schemas.microsoft.com/office/powerpoint/2010/main" val="15987305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171</TotalTime>
  <Words>973</Words>
  <Application>Microsoft Office PowerPoint</Application>
  <PresentationFormat>Widescreen</PresentationFormat>
  <Paragraphs>59</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Century Gothic</vt:lpstr>
      <vt:lpstr>Times New Roman</vt:lpstr>
      <vt:lpstr>Wingdings</vt:lpstr>
      <vt:lpstr>Wingdings 3</vt:lpstr>
      <vt:lpstr>Ion Boardroom</vt:lpstr>
      <vt:lpstr>MATURI VENKATA SUBBA RAO ENGINEERING COLLEGE                      (An Autonomous Institution)  (Sponsored By Matrusri Education Society,Estd.1980)                             Department of               Computer Science &amp; Engineering                        Internship Presentation                                    On                             MERN Stack  </vt:lpstr>
      <vt:lpstr>CONTENTS </vt:lpstr>
      <vt:lpstr>ABSTRACT </vt:lpstr>
      <vt:lpstr>INTRODUCTION </vt:lpstr>
      <vt:lpstr>Key Objectives </vt:lpstr>
      <vt:lpstr>LITERATURE SURVEY</vt:lpstr>
      <vt:lpstr>DESCRIPTION OF THE WORK DONE</vt:lpstr>
      <vt:lpstr>DESCRIPTION OF THE WORK DONE</vt:lpstr>
      <vt:lpstr>RESULT</vt:lpstr>
      <vt:lpstr>CONCLUSION</vt:lpstr>
      <vt:lpstr>CERTIFICATE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MATURI VENKATA SUBBA RAO          ENGINEERING COLLEGE                 (An Autonomous Institution)         (Sponsored By Matrusri Education Society,Estd.1980)                        Department of            Computer Science &amp; Engineering                      Internship Presentation                                    On                    Artificial Intelligence</dc:title>
  <dc:creator>Welcome</dc:creator>
  <cp:lastModifiedBy>SRI HARSHA POLOJU</cp:lastModifiedBy>
  <cp:revision>9</cp:revision>
  <dcterms:created xsi:type="dcterms:W3CDTF">2025-12-12T23:48:14Z</dcterms:created>
  <dcterms:modified xsi:type="dcterms:W3CDTF">2025-12-13T02:46:34Z</dcterms:modified>
</cp:coreProperties>
</file>